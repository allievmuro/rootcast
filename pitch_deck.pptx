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-1097280"/>
            <a:ext cx="4114800" cy="4114800"/>
          </a:xfrm>
          <a:prstGeom prst="ellipse">
            <a:avLst/>
          </a:prstGeom>
          <a:solidFill>
            <a:srgbClr val="0A7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286000" y="4389120"/>
            <a:ext cx="2926080" cy="2926080"/>
          </a:xfrm>
          <a:prstGeom prst="ellipse">
            <a:avLst/>
          </a:prstGeom>
          <a:solidFill>
            <a:srgbClr val="0A7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0" y="182880"/>
            <a:ext cx="914400" cy="914400"/>
          </a:xfrm>
          <a:prstGeom prst="ellipse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03520" y="0"/>
            <a:ext cx="109728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0" y="1371600"/>
            <a:ext cx="6217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Calibri"/>
              </a:rPr>
              <a:t>Rootcast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0" y="2926080"/>
            <a:ext cx="4572000" cy="914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0" y="3108960"/>
            <a:ext cx="6126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1FAF7"/>
                </a:solidFill>
                <a:latin typeface="Calibri"/>
              </a:rPr>
              <a:t>Proof-of-attendance communities on Solana — where showing up earns you governance, not just a badge.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0" y="4846320"/>
            <a:ext cx="1371600" cy="34747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15000" y="489844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SOCIAL-COMMUNITY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78040" y="4846320"/>
            <a:ext cx="128016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59" y="4898440"/>
            <a:ext cx="11887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9488"/>
                </a:solidFill>
                <a:latin typeface="Calibri"/>
              </a:rPr>
              <a:t>SOLANA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95360" y="4846320"/>
            <a:ext cx="1371600" cy="347472"/>
          </a:xfrm>
          <a:prstGeom prst="rect">
            <a:avLst/>
          </a:prstGeom>
          <a:solidFill>
            <a:srgbClr val="292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41080" y="489844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D1FAF7"/>
                </a:solidFill>
                <a:latin typeface="Calibri"/>
              </a:rPr>
              <a:t>PROTOTYPE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164592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COMMUNITY
GOVERNANCE
REINVENTED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466344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1FAF7"/>
                </a:solidFill>
                <a:latin typeface="Calibri"/>
              </a:rPr>
              <a:t>Proof-of-Attendance → On-Chain Power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6309360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8716C"/>
                </a:solidFill>
                <a:latin typeface="Calibri"/>
              </a:rPr>
              <a:t>Founded by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9488"/>
                </a:solidFill>
                <a:latin typeface="Calibri"/>
              </a:rPr>
              <a:t>02 / 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7772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1C1917"/>
                </a:solidFill>
                <a:latin typeface="Calibri"/>
              </a:rPr>
              <a:t>Web3 communities are ruled by whales,
not contributors.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377440"/>
            <a:ext cx="109728" cy="3474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42316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917"/>
                </a:solidFill>
                <a:latin typeface="Calibri"/>
              </a:rPr>
              <a:t>Token-weighted voting is plutocracy.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807208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8716C"/>
                </a:solidFill>
                <a:latin typeface="Calibri"/>
              </a:rPr>
              <a:t>The top 1% of wallets hold 90%+ of governance tokens in most DAOs — real contributors get zero say.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593591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917"/>
                </a:solidFill>
                <a:latin typeface="Calibri"/>
              </a:rPr>
              <a:t>Badges are vanity, not power.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977639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8716C"/>
                </a:solidFill>
                <a:latin typeface="Calibri"/>
              </a:rPr>
              <a:t>POAPs and attendance NFTs are tradeable collectibles. They prove nothing about genuine participation.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764024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917"/>
                </a:solidFill>
                <a:latin typeface="Calibri"/>
              </a:rPr>
              <a:t>Sybil attacks kill legitimacy.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148072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8716C"/>
                </a:solidFill>
                <a:latin typeface="Calibri"/>
              </a:rPr>
              <a:t>Without identity layers, one actor spins up thousands of wallets and captures governance overnight.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0" y="914400"/>
            <a:ext cx="3017520" cy="1645920"/>
          </a:xfrm>
          <a:prstGeom prst="rect">
            <a:avLst/>
          </a:prstGeom>
          <a:solidFill>
            <a:srgbClr val="FFFFFF"/>
          </a:solidFill>
          <a:ln w="381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23960" y="1024128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D9488"/>
                </a:solidFill>
                <a:latin typeface="Calibri"/>
              </a:rPr>
              <a:t>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23960" y="178308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C1917"/>
                </a:solidFill>
                <a:latin typeface="Calibri"/>
              </a:rPr>
              <a:t>of wallets control most DAO votes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2834640"/>
            <a:ext cx="3017520" cy="1645920"/>
          </a:xfrm>
          <a:prstGeom prst="rect">
            <a:avLst/>
          </a:prstGeom>
          <a:solidFill>
            <a:srgbClr val="FFFFFF"/>
          </a:solidFill>
          <a:ln w="381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2944368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D9488"/>
                </a:solidFill>
                <a:latin typeface="Calibri"/>
              </a:rPr>
              <a:t>78%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37033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C1917"/>
                </a:solidFill>
                <a:latin typeface="Calibri"/>
              </a:rPr>
              <a:t>of DAO proposals pass with &lt;5% quorum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0" y="4754880"/>
            <a:ext cx="3017520" cy="1645920"/>
          </a:xfrm>
          <a:prstGeom prst="rect">
            <a:avLst/>
          </a:prstGeom>
          <a:solidFill>
            <a:srgbClr val="FFFFFF"/>
          </a:solidFill>
          <a:ln w="381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23960" y="4864608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D9488"/>
                </a:solidFill>
                <a:latin typeface="Calibri"/>
              </a:rPr>
              <a:t>$4B+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23960" y="56235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C1917"/>
                </a:solidFill>
                <a:latin typeface="Calibri"/>
              </a:rPr>
              <a:t>lost to governance exploits since 2021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75120"/>
            <a:ext cx="12188952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1371600"/>
            <a:ext cx="5029200" cy="5029200"/>
          </a:xfrm>
          <a:prstGeom prst="ellipse">
            <a:avLst/>
          </a:prstGeom>
          <a:solidFill>
            <a:srgbClr val="0A7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4114800"/>
            <a:ext cx="2743200" cy="2743200"/>
          </a:xfrm>
          <a:prstGeom prst="ellipse">
            <a:avLst/>
          </a:prstGeom>
          <a:solidFill>
            <a:srgbClr val="0A7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0A7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1FAF7"/>
                </a:solidFill>
                <a:latin typeface="Calibri"/>
              </a:rPr>
              <a:t>03 / THE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85800"/>
            <a:ext cx="7315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Rootcast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0020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1FAF7"/>
                </a:solidFill>
                <a:latin typeface="Calibri"/>
              </a:rPr>
              <a:t>Earn governance power by showing up — provably, on-chain.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06040"/>
            <a:ext cx="521208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606040"/>
            <a:ext cx="109728" cy="155448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715768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C1917"/>
                </a:solidFill>
                <a:latin typeface="Calibri"/>
              </a:rPr>
              <a:t>🏅  Compressed NFT Attestations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136392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8716C"/>
                </a:solidFill>
                <a:latin typeface="Calibri"/>
              </a:rPr>
              <a:t>Every community action mints a cNFT proof under $0.0001 via Bubblegum state compression.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2606040"/>
            <a:ext cx="521208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2606040"/>
            <a:ext cx="109728" cy="155448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715768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C1917"/>
                </a:solidFill>
                <a:latin typeface="Calibri"/>
              </a:rPr>
              <a:t>📊  Presence Score PDA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3136392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8716C"/>
                </a:solidFill>
                <a:latin typeface="Calibri"/>
              </a:rPr>
              <a:t>Each wallet accumulates a non-transferable, decay-weighted score stored on-chain — your participation history, immutable.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389120"/>
            <a:ext cx="521208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389120"/>
            <a:ext cx="109728" cy="155448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498848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C1917"/>
                </a:solidFill>
                <a:latin typeface="Calibri"/>
              </a:rPr>
              <a:t>🗳️  Score-Weighted Governance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919472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8716C"/>
                </a:solidFill>
                <a:latin typeface="Calibri"/>
              </a:rPr>
              <a:t>Votes are weighted by Presence Score, not token balance. The most active members have the most voice.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4389120"/>
            <a:ext cx="521208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80" y="4389120"/>
            <a:ext cx="109728" cy="155448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4498848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C1917"/>
                </a:solidFill>
                <a:latin typeface="Calibri"/>
              </a:rPr>
              <a:t>🤝  Vouching Graph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919472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8716C"/>
                </a:solidFill>
                <a:latin typeface="Calibri"/>
              </a:rPr>
              <a:t>Three existing members onboard new wallets — Sybil resistance without KYC, powered by social trust.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4114800"/>
            <a:ext cx="3657600" cy="3657600"/>
          </a:xfrm>
          <a:prstGeom prst="ellipse">
            <a:avLst/>
          </a:prstGeom>
          <a:solidFill>
            <a:srgbClr val="0A7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-731520"/>
            <a:ext cx="2286000" cy="22860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27432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28016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D1FAF7"/>
                </a:solidFill>
                <a:latin typeface="Calibri"/>
              </a:rPr>
              <a:t>WHY
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83464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The infrastructure
finally exists.
The timing is perfect.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548640"/>
            <a:ext cx="73152" cy="1143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548640"/>
            <a:ext cx="7589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C1917"/>
                </a:solidFill>
                <a:latin typeface="Calibri"/>
              </a:rPr>
              <a:t>Solana state compression is production-ready.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941832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8716C"/>
                </a:solidFill>
                <a:latin typeface="Calibri"/>
              </a:rPr>
              <a:t>Bubblegum cNFTs launched on mainnet in 2023. Minting 10,000 proofs costs under $1 — per-action attestation is now economically trivial for any community.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1993392"/>
            <a:ext cx="73152" cy="1143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1993392"/>
            <a:ext cx="7589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C1917"/>
                </a:solidFill>
                <a:latin typeface="Calibri"/>
              </a:rPr>
              <a:t>DAO governance fatigue is at peak.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2386584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8716C"/>
                </a:solidFill>
                <a:latin typeface="Calibri"/>
              </a:rPr>
              <a:t>Compound, Uniswap, and Arbitrum all saw &lt;10% voter turnout in 2024. Communities are actively searching for better participation models.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0" y="3438144"/>
            <a:ext cx="73152" cy="1143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43400" y="3438144"/>
            <a:ext cx="7589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C1917"/>
                </a:solidFill>
                <a:latin typeface="Calibri"/>
              </a:rPr>
              <a:t>Regulatory pressure is shifting toward identity.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3831336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8716C"/>
                </a:solidFill>
                <a:latin typeface="Calibri"/>
              </a:rPr>
              <a:t>MiCA and US frameworks are demanding Sybil-resistant governance. Our vouching graph provides compliance pathways without sacrificing privacy.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0" y="4882896"/>
            <a:ext cx="73152" cy="1143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400" y="4882896"/>
            <a:ext cx="7589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C1917"/>
                </a:solidFill>
                <a:latin typeface="Calibri"/>
              </a:rPr>
              <a:t>The 'show up to earn' primitive is validated.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5276088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8716C"/>
                </a:solidFill>
                <a:latin typeface="Calibri"/>
              </a:rPr>
              <a:t>Farcaster Frames, Lens Protocol actions, and Galxe quests prove users will engage for on-chain credentials — we close the loop with actual governance weight.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0" y="6583680"/>
            <a:ext cx="8074152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4B8A6"/>
                </a:solidFill>
                <a:latin typeface="Calibri"/>
              </a:rPr>
              <a:t>05 / MARKET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The governance layer for every on-chain community.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3566160" cy="4023360"/>
          </a:xfrm>
          <a:prstGeom prst="rect">
            <a:avLst/>
          </a:prstGeom>
          <a:solidFill>
            <a:srgbClr val="1C1917"/>
          </a:solidFill>
          <a:ln w="381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737360"/>
            <a:ext cx="3566160" cy="16459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993391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B8A6"/>
                </a:solidFill>
                <a:latin typeface="Calibri"/>
              </a:rPr>
              <a:t>TAM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2316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Calibri"/>
              </a:rPr>
              <a:t>$47B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703320"/>
            <a:ext cx="301752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886200"/>
            <a:ext cx="3291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8A29E"/>
                </a:solidFill>
                <a:latin typeface="Calibri"/>
              </a:rPr>
              <a:t>Global DAO &amp; Web3 community
tools market by 2028
(MarketsandMarkets, 2024)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5968" y="1737360"/>
            <a:ext cx="3566160" cy="4023360"/>
          </a:xfrm>
          <a:prstGeom prst="rect">
            <a:avLst/>
          </a:prstGeom>
          <a:solidFill>
            <a:srgbClr val="1C1917"/>
          </a:solidFill>
          <a:ln w="381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8" y="1737360"/>
            <a:ext cx="3566160" cy="16459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53128" y="1993391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B8A6"/>
                </a:solidFill>
                <a:latin typeface="Calibri"/>
              </a:rPr>
              <a:t>SAM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7407" y="242316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Calibri"/>
              </a:rPr>
              <a:t>$8.2B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90288" y="3703320"/>
            <a:ext cx="301752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53128" y="3886200"/>
            <a:ext cx="3291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8A29E"/>
                </a:solidFill>
                <a:latin typeface="Calibri"/>
              </a:rPr>
              <a:t>Solana ecosystem governance
&amp; community tooling —
4,200+ active DAOs on-chain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74736" y="1737360"/>
            <a:ext cx="3566160" cy="4023360"/>
          </a:xfrm>
          <a:prstGeom prst="rect">
            <a:avLst/>
          </a:prstGeom>
          <a:solidFill>
            <a:srgbClr val="1C1917"/>
          </a:solidFill>
          <a:ln w="381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74736" y="1737360"/>
            <a:ext cx="3566160" cy="16459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11896" y="1993391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B8A6"/>
                </a:solidFill>
                <a:latin typeface="Calibri"/>
              </a:rPr>
              <a:t>SOM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6175" y="242316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Calibri"/>
              </a:rPr>
              <a:t>$420M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49056" y="3703320"/>
            <a:ext cx="301752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11896" y="3886200"/>
            <a:ext cx="3291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8A29E"/>
                </a:solidFill>
                <a:latin typeface="Calibri"/>
              </a:rPr>
              <a:t>Year-3 target: 500 communities,
$840/yr avg subscription,
+ protocol fee on governance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0350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8716C"/>
                </a:solidFill>
                <a:latin typeface="Calibri"/>
              </a:rPr>
              <a:t>Every tokenless community on Solana is a greenfield — Rootcast is the first proof-of-attendance governance primitive.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9488"/>
                </a:solidFill>
                <a:latin typeface="Calibri"/>
              </a:rPr>
              <a:t>06 /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C1917"/>
                </a:solidFill>
                <a:latin typeface="Calibri"/>
              </a:rPr>
              <a:t>Five primitives that make participation sovereign.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00200"/>
            <a:ext cx="5577840" cy="1783080"/>
          </a:xfrm>
          <a:prstGeom prst="rect">
            <a:avLst/>
          </a:prstGeom>
          <a:solidFill>
            <a:srgbClr val="FFFFFF"/>
          </a:solidFill>
          <a:ln w="317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502920" cy="17830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148840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691640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C1917"/>
                </a:solidFill>
                <a:latin typeface="Calibri"/>
              </a:rPr>
              <a:t>One-Click cNFT Issuance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130552"/>
            <a:ext cx="4800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8716C"/>
                </a:solidFill>
                <a:latin typeface="Calibri"/>
              </a:rPr>
              <a:t>Time-locked mint links let organizers issue compressed proofs in seconds. Attendees claim with one wallet tap — fully on-chain, under $0.001 per attestation.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1600200"/>
            <a:ext cx="5577840" cy="1783080"/>
          </a:xfrm>
          <a:prstGeom prst="rect">
            <a:avLst/>
          </a:prstGeom>
          <a:solidFill>
            <a:srgbClr val="FFFFFF"/>
          </a:solidFill>
          <a:ln w="317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600200"/>
            <a:ext cx="502920" cy="17830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3368" y="2148840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691640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C1917"/>
                </a:solidFill>
                <a:latin typeface="Calibri"/>
              </a:rPr>
              <a:t>Presence Score PDA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2130552"/>
            <a:ext cx="4800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8716C"/>
                </a:solidFill>
                <a:latin typeface="Calibri"/>
              </a:rPr>
              <a:t>Non-transferable on-chain score aggregates every cNFT with configurable decay curves — recent activity always outweighs stale badges.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611880"/>
            <a:ext cx="5577840" cy="1783080"/>
          </a:xfrm>
          <a:prstGeom prst="rect">
            <a:avLst/>
          </a:prstGeom>
          <a:solidFill>
            <a:srgbClr val="FFFFFF"/>
          </a:solidFill>
          <a:ln w="317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611880"/>
            <a:ext cx="502920" cy="17830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" y="4160520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703320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C1917"/>
                </a:solidFill>
                <a:latin typeface="Calibri"/>
              </a:rPr>
              <a:t>Score-Weighted Voting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142232"/>
            <a:ext cx="4800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8716C"/>
                </a:solidFill>
                <a:latin typeface="Calibri"/>
              </a:rPr>
              <a:t>Governance proposals weighted by Presence Score, not token balance. Members see their exact voting power before casting — fully transparent.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5080" y="3611880"/>
            <a:ext cx="5577840" cy="1783080"/>
          </a:xfrm>
          <a:prstGeom prst="rect">
            <a:avLst/>
          </a:prstGeom>
          <a:solidFill>
            <a:srgbClr val="FFFFFF"/>
          </a:solidFill>
          <a:ln w="317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80" y="3611880"/>
            <a:ext cx="502920" cy="17830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73368" y="4160520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3703320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C1917"/>
                </a:solidFill>
                <a:latin typeface="Calibri"/>
              </a:rPr>
              <a:t>Vouching Graph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95160" y="4142232"/>
            <a:ext cx="4800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8716C"/>
                </a:solidFill>
                <a:latin typeface="Calibri"/>
              </a:rPr>
              <a:t>Three members (minimum score threshold) can onboard any new wallet. Creates a Sybil-resistant social graph without KYC or centralized identity.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532120"/>
            <a:ext cx="5577840" cy="1783080"/>
          </a:xfrm>
          <a:prstGeom prst="rect">
            <a:avLst/>
          </a:prstGeom>
          <a:solidFill>
            <a:srgbClr val="FFFFFF"/>
          </a:solidFill>
          <a:ln w="317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5532120"/>
            <a:ext cx="502920" cy="17830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5488" y="6080759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5623559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C1917"/>
                </a:solidFill>
                <a:latin typeface="Calibri"/>
              </a:rPr>
              <a:t>Public Leaderboard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6062472"/>
            <a:ext cx="4800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8716C"/>
                </a:solidFill>
                <a:latin typeface="Calibri"/>
              </a:rPr>
              <a:t>Every community score is auditable via Helius DAS API links. No opaque backend — any skeptic can verify the full participation history on-chain.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5080" y="5532120"/>
            <a:ext cx="5577840" cy="932688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562356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All scores are fully auditable. No black boxes. No whales. Just proof.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0" y="3200400"/>
            <a:ext cx="5486400" cy="5486400"/>
          </a:xfrm>
          <a:prstGeom prst="ellipse">
            <a:avLst/>
          </a:prstGeom>
          <a:solidFill>
            <a:srgbClr val="0A7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4B8A6"/>
                </a:solidFill>
                <a:latin typeface="Calibri"/>
              </a:rPr>
              <a:t>07 / TECH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31520"/>
            <a:ext cx="6858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Built on Solana's most powerful
infrastructure primitives.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928115" y="2240280"/>
            <a:ext cx="3291840" cy="640080"/>
          </a:xfrm>
          <a:prstGeom prst="rect">
            <a:avLst/>
          </a:prstGeom>
          <a:solidFill>
            <a:srgbClr val="0D9488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9555" y="2313432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Solana SPL Compression (state compression)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48556" y="2240280"/>
            <a:ext cx="3291840" cy="640080"/>
          </a:xfrm>
          <a:prstGeom prst="rect">
            <a:avLst/>
          </a:prstGeom>
          <a:solidFill>
            <a:srgbClr val="0A7C72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39996" y="2313432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Metaplex Bubblegum (cNFT minting)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68996" y="2240280"/>
            <a:ext cx="3291840" cy="640080"/>
          </a:xfrm>
          <a:prstGeom prst="rect">
            <a:avLst/>
          </a:prstGeom>
          <a:solidFill>
            <a:srgbClr val="0D9488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60436" y="2313432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Anchor framework (Rust, on-chain voting program)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8115" y="3474720"/>
            <a:ext cx="3291840" cy="640080"/>
          </a:xfrm>
          <a:prstGeom prst="rect">
            <a:avLst/>
          </a:prstGeom>
          <a:solidFill>
            <a:srgbClr val="0A7C72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9555" y="3547872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Program Derived Addresses (PDA Presence Score ledger)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48556" y="3474720"/>
            <a:ext cx="3291840" cy="640080"/>
          </a:xfrm>
          <a:prstGeom prst="rect">
            <a:avLst/>
          </a:prstGeom>
          <a:solidFill>
            <a:srgbClr val="0D9488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9996" y="3547872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Helius DAS API (compressed NFT indexing and querying)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68996" y="3474720"/>
            <a:ext cx="3291840" cy="640080"/>
          </a:xfrm>
          <a:prstGeom prst="rect">
            <a:avLst/>
          </a:prstGeom>
          <a:solidFill>
            <a:srgbClr val="0A7C72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60436" y="3547872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Next.js 14 (frontend)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-832104" y="4709160"/>
            <a:ext cx="3291840" cy="640080"/>
          </a:xfrm>
          <a:prstGeom prst="rect">
            <a:avLst/>
          </a:prstGeom>
          <a:solidFill>
            <a:srgbClr val="292524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-740664" y="4782312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4B8A6"/>
                </a:solidFill>
                <a:latin typeface="Calibri"/>
              </a:rPr>
              <a:t>@solana/wallet-adapter-react (wallet connection)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88336" y="4709160"/>
            <a:ext cx="3291840" cy="640080"/>
          </a:xfrm>
          <a:prstGeom prst="rect">
            <a:avLst/>
          </a:prstGeom>
          <a:solidFill>
            <a:srgbClr val="292524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79776" y="4782312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4B8A6"/>
                </a:solidFill>
                <a:latin typeface="Calibri"/>
              </a:rPr>
              <a:t>Dialect SDK (on-chain governance notifications)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08776" y="4709160"/>
            <a:ext cx="3291840" cy="640080"/>
          </a:xfrm>
          <a:prstGeom prst="rect">
            <a:avLst/>
          </a:prstGeom>
          <a:solidFill>
            <a:srgbClr val="292524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0216" y="4782312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4B8A6"/>
                </a:solidFill>
                <a:latin typeface="Calibri"/>
              </a:rPr>
              <a:t>TypeScript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729216" y="4709160"/>
            <a:ext cx="3291840" cy="640080"/>
          </a:xfrm>
          <a:prstGeom prst="rect">
            <a:avLst/>
          </a:prstGeom>
          <a:solidFill>
            <a:srgbClr val="292524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20656" y="4782312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4B8A6"/>
                </a:solidFill>
                <a:latin typeface="Calibri"/>
              </a:rPr>
              <a:t>PostgreSQL (off-chain event metadata cache)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03504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8716C"/>
                </a:solidFill>
                <a:latin typeface="Calibri"/>
              </a:rPr>
              <a:t>Every component is open-source. Every state transition is on-chain. Every proof is verifiable.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9488"/>
                </a:solidFill>
                <a:latin typeface="Calibri"/>
              </a:rPr>
              <a:t>08 / TRACTION &amp; MILESTONES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C1917"/>
                </a:solidFill>
                <a:latin typeface="Calibri"/>
              </a:rPr>
              <a:t>From devnet prototype to mainnet governance — shipping fast.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00200"/>
            <a:ext cx="5577840" cy="1417320"/>
          </a:xfrm>
          <a:prstGeom prst="rect">
            <a:avLst/>
          </a:prstGeom>
          <a:solidFill>
            <a:srgbClr val="FFFFFF"/>
          </a:solidFill>
          <a:ln w="317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5577840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6479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C1917"/>
                </a:solidFill>
                <a:latin typeface="Calibri"/>
              </a:rPr>
              <a:t>✅  Anchor Programs Deployed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67128"/>
            <a:ext cx="52120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8716C"/>
                </a:solidFill>
                <a:latin typeface="Calibri"/>
              </a:rPr>
              <a:t>Presence Score PDA + cNFT issuance pipeline live on Solana devnet. Configurable decay logic with full unit-test coverage.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600200"/>
            <a:ext cx="5577840" cy="1417320"/>
          </a:xfrm>
          <a:prstGeom prst="rect">
            <a:avLst/>
          </a:prstGeom>
          <a:solidFill>
            <a:srgbClr val="FFFFFF"/>
          </a:solidFill>
          <a:ln w="317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600200"/>
            <a:ext cx="5577840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76479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C1917"/>
                </a:solidFill>
                <a:latin typeface="Calibri"/>
              </a:rPr>
              <a:t>✅  End-to-End Flow Tested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67128"/>
            <a:ext cx="52120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8716C"/>
                </a:solidFill>
                <a:latin typeface="Calibri"/>
              </a:rPr>
              <a:t>Bubblegum mint → Helius DAS API indexing → Presence Score update cycle verified. 10K cNFT batch cost: $0.87.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00400"/>
            <a:ext cx="5577840" cy="1417320"/>
          </a:xfrm>
          <a:prstGeom prst="rect">
            <a:avLst/>
          </a:prstGeom>
          <a:solidFill>
            <a:srgbClr val="FFFFFF"/>
          </a:solidFill>
          <a:ln w="317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200400"/>
            <a:ext cx="5577840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36499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C1917"/>
                </a:solidFill>
                <a:latin typeface="Calibri"/>
              </a:rPr>
              <a:t>✅  Next.js Prototype Live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767328"/>
            <a:ext cx="52120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8716C"/>
                </a:solidFill>
                <a:latin typeface="Calibri"/>
              </a:rPr>
              <a:t>Wallet connection, event creation, cNFT claiming, and Presence Score display — functional on devnet.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3200400"/>
            <a:ext cx="5577840" cy="1417320"/>
          </a:xfrm>
          <a:prstGeom prst="rect">
            <a:avLst/>
          </a:prstGeom>
          <a:solidFill>
            <a:srgbClr val="FFFFFF"/>
          </a:solidFill>
          <a:ln w="317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3200400"/>
            <a:ext cx="5577840" cy="914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336499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C1917"/>
                </a:solidFill>
                <a:latin typeface="Calibri"/>
              </a:rPr>
              <a:t>🔄  3 Beta Communities Lined 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767328"/>
            <a:ext cx="52120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8716C"/>
                </a:solidFill>
                <a:latin typeface="Calibri"/>
              </a:rPr>
              <a:t>Superteam, Lamport DAO, and a stealth Solana builder guild have committed to closed beta on mainnet in Q2 2026.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800600"/>
            <a:ext cx="5577840" cy="1417320"/>
          </a:xfrm>
          <a:prstGeom prst="rect">
            <a:avLst/>
          </a:prstGeom>
          <a:solidFill>
            <a:srgbClr val="FFFFFF"/>
          </a:solidFill>
          <a:ln w="317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800600"/>
            <a:ext cx="5577840" cy="914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96519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C1917"/>
                </a:solidFill>
                <a:latin typeface="Calibri"/>
              </a:rPr>
              <a:t>🔄  On-Chain Governance Voting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367528"/>
            <a:ext cx="52120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8716C"/>
                </a:solidFill>
                <a:latin typeface="Calibri"/>
              </a:rPr>
              <a:t>Anchor governance program with Presence Score-weighted proposals, quorum thresholds, and vote finalization — in audit.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4800600"/>
            <a:ext cx="5577840" cy="1417320"/>
          </a:xfrm>
          <a:prstGeom prst="rect">
            <a:avLst/>
          </a:prstGeom>
          <a:solidFill>
            <a:srgbClr val="FFFFFF"/>
          </a:solidFill>
          <a:ln w="317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09360" y="4800600"/>
            <a:ext cx="5577840" cy="91440"/>
          </a:xfrm>
          <a:prstGeom prst="rect">
            <a:avLst/>
          </a:prstGeom>
          <a:solidFill>
            <a:srgbClr val="A8A2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496519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C1917"/>
                </a:solidFill>
                <a:latin typeface="Calibri"/>
              </a:rPr>
              <a:t>🎯  Vouching Graph Shipping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5367528"/>
            <a:ext cx="52120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8716C"/>
                </a:solidFill>
                <a:latin typeface="Calibri"/>
              </a:rPr>
              <a:t>Three-member vouching flow with on-chain social graph PDA records — targeting Q2 2026 mainnet launch.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465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8716C"/>
                </a:solidFill>
                <a:latin typeface="Calibri"/>
              </a:rPr>
              <a:t>Prototype stage — all core programs written, tested, and documented. Seeking seed funding to accelerate mainnet launch.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4B8A6"/>
                </a:solidFill>
                <a:latin typeface="Calibri"/>
              </a:rPr>
              <a:t>09 /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Three quarters to community governance at scale.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11274552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103120" y="1600200"/>
            <a:ext cx="274320" cy="27432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011680"/>
            <a:ext cx="3566160" cy="4434840"/>
          </a:xfrm>
          <a:prstGeom prst="rect">
            <a:avLst/>
          </a:prstGeom>
          <a:solidFill>
            <a:srgbClr val="1C1917"/>
          </a:solidFill>
          <a:ln w="317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011680"/>
            <a:ext cx="3566160" cy="16459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2240280"/>
            <a:ext cx="1371600" cy="274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28142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COMPLETE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6060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Q1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06324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1FAF7"/>
                </a:solidFill>
                <a:latin typeface="Calibri"/>
              </a:rPr>
              <a:t>Deploy core Anchor programs and cNFT issuance pipeline on Solana devnet with a functional prototype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4178808"/>
            <a:ext cx="73152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069080"/>
            <a:ext cx="30632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8A29E"/>
                </a:solidFill>
                <a:latin typeface="Calibri"/>
              </a:rPr>
              <a:t>Anchor-based Presence Score PDA program deployed to devnet with configurable decay logic and unit tests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4864608"/>
            <a:ext cx="73152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754880"/>
            <a:ext cx="30632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8A29E"/>
                </a:solidFill>
                <a:latin typeface="Calibri"/>
              </a:rPr>
              <a:t>Bubblegum cNFT minting flow for time-locked event claim links, tested end-to-end with Helius DAS API indexing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5550408"/>
            <a:ext cx="73152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440680"/>
            <a:ext cx="30632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8A29E"/>
                </a:solidFill>
                <a:latin typeface="Calibri"/>
              </a:rPr>
              <a:t>Next.js prototype UI supporting wallet connection, event creation, cNFT claiming, and Presence Score display</a:t>
            </a:r>
          </a:p>
        </p:txBody>
      </p:sp>
      <p:sp>
        <p:nvSpPr>
          <p:cNvPr id="20" name="Oval 19"/>
          <p:cNvSpPr/>
          <p:nvPr/>
        </p:nvSpPr>
        <p:spPr>
          <a:xfrm>
            <a:off x="5961888" y="1600200"/>
            <a:ext cx="274320" cy="27432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15968" y="2011680"/>
            <a:ext cx="3566160" cy="4434840"/>
          </a:xfrm>
          <a:prstGeom prst="rect">
            <a:avLst/>
          </a:prstGeom>
          <a:solidFill>
            <a:srgbClr val="1C1917"/>
          </a:solidFill>
          <a:ln w="317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15968" y="2011680"/>
            <a:ext cx="3566160" cy="16459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53128" y="2240280"/>
            <a:ext cx="1371600" cy="2743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98848" y="228142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IN PROGRESS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53128" y="26060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Q2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53128" y="306324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1FAF7"/>
                </a:solidFill>
                <a:latin typeface="Calibri"/>
              </a:rPr>
              <a:t>Launch closed beta with three Solana builder communities on mainnet and ship on-chain governance voting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53128" y="4178808"/>
            <a:ext cx="73152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36007" y="4069080"/>
            <a:ext cx="30632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8A29E"/>
                </a:solidFill>
                <a:latin typeface="Calibri"/>
              </a:rPr>
              <a:t>Anchor governance program deployed to mainnet supporting Presence Score-weighted proposals, quorum thresholds, and vote finalization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53128" y="4864608"/>
            <a:ext cx="73152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36007" y="4754880"/>
            <a:ext cx="30632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8A29E"/>
                </a:solidFill>
                <a:latin typeface="Calibri"/>
              </a:rPr>
              <a:t>Vouching graph feature live — three-member vouching flow with minimum Presence Score gate and on-chain social graph PDA records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53128" y="5550408"/>
            <a:ext cx="73152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36007" y="5440680"/>
            <a:ext cx="30632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8A29E"/>
                </a:solidFill>
                <a:latin typeface="Calibri"/>
              </a:rPr>
              <a:t>Public community leaderboard with auditable on-chain proof links, integrated with Dialect notifications for governance alerts</a:t>
            </a:r>
          </a:p>
        </p:txBody>
      </p:sp>
      <p:sp>
        <p:nvSpPr>
          <p:cNvPr id="33" name="Oval 32"/>
          <p:cNvSpPr/>
          <p:nvPr/>
        </p:nvSpPr>
        <p:spPr>
          <a:xfrm>
            <a:off x="9820655" y="1600200"/>
            <a:ext cx="274320" cy="274320"/>
          </a:xfrm>
          <a:prstGeom prst="ellipse">
            <a:avLst/>
          </a:prstGeom>
          <a:solidFill>
            <a:srgbClr val="444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74736" y="2011680"/>
            <a:ext cx="3566160" cy="4434840"/>
          </a:xfrm>
          <a:prstGeom prst="rect">
            <a:avLst/>
          </a:prstGeom>
          <a:solidFill>
            <a:srgbClr val="1C1917"/>
          </a:solidFill>
          <a:ln w="31750">
            <a:solidFill>
              <a:srgbClr val="444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174736" y="2011680"/>
            <a:ext cx="3566160" cy="164592"/>
          </a:xfrm>
          <a:prstGeom prst="rect">
            <a:avLst/>
          </a:prstGeom>
          <a:solidFill>
            <a:srgbClr val="444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311896" y="2240280"/>
            <a:ext cx="1371600" cy="274320"/>
          </a:xfrm>
          <a:prstGeom prst="rect">
            <a:avLst/>
          </a:prstGeom>
          <a:solidFill>
            <a:srgbClr val="444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57616" y="228142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UPCOMING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11896" y="26060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Q3 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11896" y="306324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1FAF7"/>
                </a:solidFill>
                <a:latin typeface="Calibri"/>
              </a:rPr>
              <a:t>Open self-serve community onboarding and reach 20 active communities with measurable governance participation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311896" y="4178808"/>
            <a:ext cx="73152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94776" y="4069080"/>
            <a:ext cx="30632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8A29E"/>
                </a:solidFill>
                <a:latin typeface="Calibri"/>
              </a:rPr>
              <a:t>Self-serve community setup wizard allowing admins to configure event types, decay curves, and voting formulas without writing code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311896" y="4864608"/>
            <a:ext cx="73152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94776" y="4754880"/>
            <a:ext cx="30632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8A29E"/>
                </a:solidFill>
                <a:latin typeface="Calibri"/>
              </a:rPr>
              <a:t>Analytics dashboard showing per-community participation rates, Presence Score distribution, and proposal turnout over time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311896" y="5550408"/>
            <a:ext cx="73152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94776" y="5440680"/>
            <a:ext cx="30632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8A29E"/>
                </a:solidFill>
                <a:latin typeface="Calibri"/>
              </a:rPr>
              <a:t>SDK and REST API wrapper over Helius DAS for third-party integrations, enabling Discord bots and external tools to read Presence Scores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0A7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0" y="2286000"/>
            <a:ext cx="5943600" cy="5943600"/>
          </a:xfrm>
          <a:prstGeom prst="ellipse">
            <a:avLst/>
          </a:prstGeom>
          <a:solidFill>
            <a:srgbClr val="0A7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914400"/>
            <a:ext cx="9445752" cy="4754880"/>
          </a:xfrm>
          <a:prstGeom prst="rect">
            <a:avLst/>
          </a:prstGeom>
          <a:solidFill>
            <a:srgbClr val="FFFFFF"/>
          </a:solidFill>
          <a:ln w="50800">
            <a:solidFill>
              <a:srgbClr val="1C19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914400"/>
            <a:ext cx="9445752" cy="201168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1188720"/>
            <a:ext cx="9052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9488"/>
                </a:solidFill>
                <a:latin typeface="Calibri"/>
              </a:rPr>
              <a:t>10 / JOIN THE MOVEMENT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645920"/>
            <a:ext cx="9052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1C1917"/>
                </a:solidFill>
                <a:latin typeface="Calibri"/>
              </a:rPr>
              <a:t>Community governance should be earned,
not bought.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3337560"/>
            <a:ext cx="5788152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54480" y="3493008"/>
            <a:ext cx="9052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78716C"/>
                </a:solidFill>
                <a:latin typeface="Calibri"/>
              </a:rPr>
              <a:t>We're raising a $1.2M pre-seed round to bring Rootcast to mainnet,
onboard 3 beta communities, and prove that showing up is the new staking.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4709160"/>
            <a:ext cx="2926080" cy="5943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0" y="477316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REQUEST DECK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4709160"/>
            <a:ext cx="2926080" cy="594360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0" y="477316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JOIN BETA WAITLIST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6446520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D1FAF7"/>
                </a:solidFill>
                <a:latin typeface="Calibri"/>
              </a:rPr>
              <a:t>Rootcast  ·  rootcast.xyz  ·  Founded by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